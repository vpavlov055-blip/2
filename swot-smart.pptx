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9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Студент" initials="С" lastIdx="2" clrIdx="0">
    <p:extLst>
      <p:ext uri="{19B8F6BF-5375-455C-9EA6-DF929625EA0E}">
        <p15:presenceInfo xmlns:p15="http://schemas.microsoft.com/office/powerpoint/2012/main" userId="S-1-5-21-163606944-1583778555-1837841971-110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DAC902-DB15-ACC3-37D1-C3794C685A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5191B32-C9BC-8051-9923-20564C602C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18E8D7-8890-7DE4-C935-A43F34D18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4F99C-353B-415C-BEF6-82FEC0F1EDFF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3E301D-2668-0C28-9915-6929FEC93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52233A-1B90-B48D-D015-D3FE5D721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5706D-03A9-4858-ACFD-A94A2AED8B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4401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F7A4E9-D5BF-8149-794C-057F9C051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C7707B-F163-8268-F8FE-5F247A7A6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3981F8-E417-91A9-572C-462908DA4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4F99C-353B-415C-BEF6-82FEC0F1EDFF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ED3733F-A97A-0656-C616-75F259FFE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CBD566-857C-6F11-268B-C40DE4334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5706D-03A9-4858-ACFD-A94A2AED8B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5237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E3AC1D-0701-F619-606F-C5A50855F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DE8614E-502A-7803-8935-0BEFAA433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F7B07C0-2FE2-8EB2-BE78-DC0419251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4F99C-353B-415C-BEF6-82FEC0F1EDFF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33DF17-862F-F1E9-C86C-3906F0696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1F913B-EB84-5FCE-DEE0-277C94C4B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5706D-03A9-4858-ACFD-A94A2AED8B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8194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142813-9C90-6A4F-EDD0-290D85DAA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75456E-AF5D-5C4C-70C5-D83D1AB016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3924B56-E707-7A27-3F2E-D879ACB3C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BE788FB-AB29-5FEE-D63F-BD92524F9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4F99C-353B-415C-BEF6-82FEC0F1EDFF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30902B1-7CC2-DBC3-93D8-4DC1B777C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B9154E-E13D-ABB1-E627-A04A0930D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5706D-03A9-4858-ACFD-A94A2AED8B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7744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4F7923-32F9-F367-6C5A-3E70C2233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4787629-0B38-D408-9C89-F57AC1AEF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CFCFEA2-7522-14EB-C5ED-FF6FE56CD8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0E09BB3-BAA5-72DB-3379-019BE1755A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C5D08ED-AF64-FC39-F6C1-DB8BA98468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FD0137B-2C47-C0D2-B73D-D142BE741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4F99C-353B-415C-BEF6-82FEC0F1EDFF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D6F89FE-9B3B-11DE-D244-2BF5B14A6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D0B4194-E8FA-A29D-8FD9-89AF06A28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5706D-03A9-4858-ACFD-A94A2AED8B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2909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850B6A-B785-E583-26E2-05DD1038E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81C90BD-D5DC-ED93-A99F-C2B1E5432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4F99C-353B-415C-BEF6-82FEC0F1EDFF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2D3C745-024A-0598-9C29-161F69800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A4EAEF7-A780-993D-CFC4-1AD65A48C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5706D-03A9-4858-ACFD-A94A2AED8B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930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CC5B1A7-7F3D-28EC-CF01-C11044A3E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4F99C-353B-415C-BEF6-82FEC0F1EDFF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B0027C6-F94C-5229-3CE0-60747F65D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4B18E10-D1C2-7076-76E9-364FB928D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5706D-03A9-4858-ACFD-A94A2AED8B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2491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311F60-A45A-20C7-FABF-649CDBF96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6A55D7-6E48-1693-672C-7A9C86AC3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EAFC368-0743-4B24-DF84-75FF66A0E5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0B50C11-4240-E154-4C42-73CA81A5E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4F99C-353B-415C-BEF6-82FEC0F1EDFF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DCCDC38-EDCC-1D49-812C-B31E647F5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2D1D310-D04F-5609-8C6B-A18D0981E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5706D-03A9-4858-ACFD-A94A2AED8B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7859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A046A5-A2F3-B1B0-3180-04051582C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A7DE714-C3D6-5184-8F20-4659E30418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F40D2BE-4630-D2C2-7848-85799205CC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DDC8D6D-0D59-8E55-F068-B38F6F749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4F99C-353B-415C-BEF6-82FEC0F1EDFF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AFFB81C-9112-2AED-6B26-5337C4112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41AE898-EDAD-EBD6-D5BB-9334253D3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5706D-03A9-4858-ACFD-A94A2AED8B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3720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3C4E3A-34A9-2ED8-AF2A-C745CBD10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9EC5B4B-FAA2-0560-3359-D76B198198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EEA493-94C4-7B73-B330-10C70E801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4F99C-353B-415C-BEF6-82FEC0F1EDFF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BEE167-146C-6C23-7993-1C6D506A6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5D46007-6944-5B28-9FEC-82339FF32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5706D-03A9-4858-ACFD-A94A2AED8B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6199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3023863-B708-D696-A369-E65633C4BF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A92F598-2449-36C6-440B-1C2740E99D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A8F3A4-727F-BBD4-4B95-206E76D06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4F99C-353B-415C-BEF6-82FEC0F1EDFF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6502A2-7155-A565-1E01-260116905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D79AA3-60C9-2AC8-0603-843F54981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5706D-03A9-4858-ACFD-A94A2AED8B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2085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8435E5-5012-635D-9598-841137F8A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142322F-6CDF-8B9A-841F-07F43604BA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7382E8-EFEB-C95E-0743-5C4F0DD64F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4F99C-353B-415C-BEF6-82FEC0F1EDFF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28F299-55DA-6A75-11AE-74D56A0FD4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022A42-D50A-6CDF-023B-F360ABEABA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65706D-03A9-4858-ACFD-A94A2AED8B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4223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B52E9B-9437-5C39-AEE3-E278CCBEEC1C}"/>
              </a:ext>
            </a:extLst>
          </p:cNvPr>
          <p:cNvSpPr txBox="1"/>
          <p:nvPr/>
        </p:nvSpPr>
        <p:spPr>
          <a:xfrm>
            <a:off x="5142215" y="671801"/>
            <a:ext cx="17432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/>
              <a:t>SWOT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9A0C13-58E6-D1E0-8821-35E77B510C69}"/>
              </a:ext>
            </a:extLst>
          </p:cNvPr>
          <p:cNvSpPr txBox="1"/>
          <p:nvPr/>
        </p:nvSpPr>
        <p:spPr>
          <a:xfrm>
            <a:off x="1326010" y="4328262"/>
            <a:ext cx="389836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1. </a:t>
            </a:r>
            <a:r>
              <a:rPr lang="ru-RU" sz="2400" dirty="0"/>
              <a:t>Рынок "осознанного потребления". </a:t>
            </a:r>
            <a:endParaRPr lang="en-US" sz="2400" dirty="0"/>
          </a:p>
          <a:p>
            <a:r>
              <a:rPr lang="ru-RU" sz="2400" dirty="0"/>
              <a:t>2. Корпоративные заказы.</a:t>
            </a:r>
            <a:endParaRPr lang="en-US" sz="2400" dirty="0"/>
          </a:p>
          <a:p>
            <a:r>
              <a:rPr lang="ru-RU" sz="2400" dirty="0"/>
              <a:t>3. Покупка битой техники</a:t>
            </a:r>
            <a:r>
              <a:rPr lang="en-US" sz="2400" dirty="0"/>
              <a:t>.</a:t>
            </a:r>
          </a:p>
          <a:p>
            <a:r>
              <a:rPr lang="en-US" sz="2400" dirty="0"/>
              <a:t>4</a:t>
            </a:r>
            <a:r>
              <a:rPr lang="ru-RU" sz="2400" dirty="0"/>
              <a:t>. Выездной ремонт</a:t>
            </a:r>
            <a:r>
              <a:rPr lang="en-US" sz="2400" dirty="0"/>
              <a:t>.</a:t>
            </a:r>
            <a:endParaRPr lang="ru-R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D50E24-77F9-91B4-5ED1-11637F4AA08B}"/>
              </a:ext>
            </a:extLst>
          </p:cNvPr>
          <p:cNvSpPr txBox="1"/>
          <p:nvPr/>
        </p:nvSpPr>
        <p:spPr>
          <a:xfrm>
            <a:off x="6651381" y="1459242"/>
            <a:ext cx="5540619" cy="19389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1. </a:t>
            </a:r>
            <a:r>
              <a:rPr lang="ru-RU" sz="2400" dirty="0"/>
              <a:t>Дефицит квалифицированных кадров</a:t>
            </a:r>
            <a:r>
              <a:rPr lang="en-US" sz="2400" dirty="0"/>
              <a:t>.</a:t>
            </a:r>
          </a:p>
          <a:p>
            <a:r>
              <a:rPr lang="en-US" sz="2400" dirty="0"/>
              <a:t>2. </a:t>
            </a:r>
            <a:r>
              <a:rPr lang="ru-RU" sz="2400" dirty="0"/>
              <a:t>Зависимость от поставок. </a:t>
            </a:r>
            <a:endParaRPr lang="en-US" sz="2400" dirty="0"/>
          </a:p>
          <a:p>
            <a:r>
              <a:rPr lang="en-US" sz="2400" dirty="0"/>
              <a:t>3. </a:t>
            </a:r>
            <a:r>
              <a:rPr lang="ru-RU" sz="2400" dirty="0"/>
              <a:t>Риск репутации из-за сложных случаев</a:t>
            </a:r>
            <a:r>
              <a:rPr lang="en-US" sz="2400" dirty="0"/>
              <a:t>.</a:t>
            </a:r>
          </a:p>
          <a:p>
            <a:r>
              <a:rPr lang="ru-RU" sz="2400" dirty="0"/>
              <a:t>4. Сложность с юрлицами</a:t>
            </a:r>
            <a:r>
              <a:rPr lang="en-US" sz="2400" dirty="0"/>
              <a:t>.</a:t>
            </a:r>
            <a:endParaRPr lang="ru-RU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54F13E-0A6C-3FB4-7309-4BBD3C0638C8}"/>
              </a:ext>
            </a:extLst>
          </p:cNvPr>
          <p:cNvSpPr txBox="1"/>
          <p:nvPr/>
        </p:nvSpPr>
        <p:spPr>
          <a:xfrm>
            <a:off x="6651381" y="4328262"/>
            <a:ext cx="490186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1. </a:t>
            </a:r>
            <a:r>
              <a:rPr lang="ru-RU" sz="2400" dirty="0"/>
              <a:t>Высокая конкуренция.</a:t>
            </a:r>
            <a:endParaRPr lang="en-US" sz="2400" dirty="0"/>
          </a:p>
          <a:p>
            <a:r>
              <a:rPr lang="ru-RU" sz="2400" dirty="0"/>
              <a:t>2. Рост цен на запчасти и логистику. </a:t>
            </a:r>
            <a:endParaRPr lang="en-US" sz="2400" dirty="0"/>
          </a:p>
          <a:p>
            <a:r>
              <a:rPr lang="ru-RU" sz="2400" dirty="0"/>
              <a:t>3. Усложнение техники Для ремонта.</a:t>
            </a:r>
          </a:p>
          <a:p>
            <a:r>
              <a:rPr lang="ru-RU" sz="2400" dirty="0"/>
              <a:t>4. Серые схемы и нелегалы.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4E1C77-BF38-925A-946B-D3EDFABC4FA0}"/>
              </a:ext>
            </a:extLst>
          </p:cNvPr>
          <p:cNvSpPr txBox="1"/>
          <p:nvPr/>
        </p:nvSpPr>
        <p:spPr>
          <a:xfrm>
            <a:off x="1313595" y="1459242"/>
            <a:ext cx="389836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1. Высокий спрос на услугу. </a:t>
            </a:r>
          </a:p>
          <a:p>
            <a:r>
              <a:rPr lang="ru-RU" sz="2400" dirty="0"/>
              <a:t>2. Низкий порог входа.</a:t>
            </a:r>
            <a:endParaRPr lang="en-US" sz="2400" dirty="0"/>
          </a:p>
          <a:p>
            <a:r>
              <a:rPr lang="ru-RU" sz="2400" dirty="0"/>
              <a:t>3. Скорость обслуживания.</a:t>
            </a:r>
          </a:p>
          <a:p>
            <a:r>
              <a:rPr lang="ru-RU" sz="2400" dirty="0"/>
              <a:t>4. Наличие местных поставщиков.</a:t>
            </a:r>
            <a:endParaRPr lang="en-US" sz="2400" dirty="0"/>
          </a:p>
        </p:txBody>
      </p:sp>
      <p:sp>
        <p:nvSpPr>
          <p:cNvPr id="17" name="Стрелка: влево-вправо 16">
            <a:extLst>
              <a:ext uri="{FF2B5EF4-FFF2-40B4-BE49-F238E27FC236}">
                <a16:creationId xmlns:a16="http://schemas.microsoft.com/office/drawing/2014/main" id="{73A776F0-D0D3-403A-E9EC-4AC38FE581F7}"/>
              </a:ext>
            </a:extLst>
          </p:cNvPr>
          <p:cNvSpPr/>
          <p:nvPr/>
        </p:nvSpPr>
        <p:spPr>
          <a:xfrm>
            <a:off x="657728" y="3991555"/>
            <a:ext cx="11181764" cy="246491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Стрелка: вверх-вниз 17">
            <a:extLst>
              <a:ext uri="{FF2B5EF4-FFF2-40B4-BE49-F238E27FC236}">
                <a16:creationId xmlns:a16="http://schemas.microsoft.com/office/drawing/2014/main" id="{FF2414A5-2495-293C-8348-D8E028E3859D}"/>
              </a:ext>
            </a:extLst>
          </p:cNvPr>
          <p:cNvSpPr/>
          <p:nvPr/>
        </p:nvSpPr>
        <p:spPr>
          <a:xfrm>
            <a:off x="5886615" y="1407381"/>
            <a:ext cx="254442" cy="5319422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1ADD91-E84D-0148-FF55-5B65CD3E441A}"/>
              </a:ext>
            </a:extLst>
          </p:cNvPr>
          <p:cNvSpPr txBox="1"/>
          <p:nvPr/>
        </p:nvSpPr>
        <p:spPr>
          <a:xfrm>
            <a:off x="5461075" y="3514635"/>
            <a:ext cx="11055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S      W</a:t>
            </a:r>
          </a:p>
          <a:p>
            <a:endParaRPr lang="en-US" sz="2400" dirty="0"/>
          </a:p>
          <a:p>
            <a:r>
              <a:rPr lang="en-US" sz="2400" dirty="0"/>
              <a:t> O      T</a:t>
            </a:r>
          </a:p>
        </p:txBody>
      </p:sp>
    </p:spTree>
    <p:extLst>
      <p:ext uri="{BB962C8B-B14F-4D97-AF65-F5344CB8AC3E}">
        <p14:creationId xmlns:p14="http://schemas.microsoft.com/office/powerpoint/2010/main" val="782005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">
              <a:schemeClr val="accent1">
                <a:lumMod val="5000"/>
                <a:lumOff val="95000"/>
              </a:schemeClr>
            </a:gs>
            <a:gs pos="8000">
              <a:schemeClr val="accent1">
                <a:lumMod val="45000"/>
                <a:lumOff val="55000"/>
              </a:schemeClr>
            </a:gs>
            <a:gs pos="12000">
              <a:schemeClr val="accent1"/>
            </a:gs>
            <a:gs pos="19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Группа 43">
            <a:extLst>
              <a:ext uri="{FF2B5EF4-FFF2-40B4-BE49-F238E27FC236}">
                <a16:creationId xmlns:a16="http://schemas.microsoft.com/office/drawing/2014/main" id="{2AB7D27A-ACE8-6319-BAF5-7BE863C7AD7F}"/>
              </a:ext>
            </a:extLst>
          </p:cNvPr>
          <p:cNvGrpSpPr/>
          <p:nvPr/>
        </p:nvGrpSpPr>
        <p:grpSpPr>
          <a:xfrm>
            <a:off x="0" y="914400"/>
            <a:ext cx="12192001" cy="5943600"/>
            <a:chOff x="1" y="1296140"/>
            <a:chExt cx="11674131" cy="5561860"/>
          </a:xfrm>
        </p:grpSpPr>
        <p:grpSp>
          <p:nvGrpSpPr>
            <p:cNvPr id="28" name="Группа 27">
              <a:extLst>
                <a:ext uri="{FF2B5EF4-FFF2-40B4-BE49-F238E27FC236}">
                  <a16:creationId xmlns:a16="http://schemas.microsoft.com/office/drawing/2014/main" id="{CB6A6754-4F3F-3CC2-A6D6-8CC26C17E0C4}"/>
                </a:ext>
              </a:extLst>
            </p:cNvPr>
            <p:cNvGrpSpPr/>
            <p:nvPr/>
          </p:nvGrpSpPr>
          <p:grpSpPr>
            <a:xfrm>
              <a:off x="1" y="1296140"/>
              <a:ext cx="2334826" cy="5561860"/>
              <a:chOff x="1" y="1296140"/>
              <a:chExt cx="2334826" cy="5561860"/>
            </a:xfrm>
          </p:grpSpPr>
          <p:sp>
            <p:nvSpPr>
              <p:cNvPr id="12" name="Прямоугольник 11">
                <a:extLst>
                  <a:ext uri="{FF2B5EF4-FFF2-40B4-BE49-F238E27FC236}">
                    <a16:creationId xmlns:a16="http://schemas.microsoft.com/office/drawing/2014/main" id="{5F3FB27A-8C91-4BBD-4E24-C491C7727556}"/>
                  </a:ext>
                </a:extLst>
              </p:cNvPr>
              <p:cNvSpPr/>
              <p:nvPr/>
            </p:nvSpPr>
            <p:spPr>
              <a:xfrm>
                <a:off x="1" y="1296140"/>
                <a:ext cx="2334826" cy="5561860"/>
              </a:xfrm>
              <a:prstGeom prst="rect">
                <a:avLst/>
              </a:prstGeom>
              <a:ln w="571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2800" dirty="0"/>
                  <a:t>Конкретная</a:t>
                </a:r>
              </a:p>
            </p:txBody>
          </p:sp>
          <p:sp>
            <p:nvSpPr>
              <p:cNvPr id="11" name="Блок-схема: узел 10">
                <a:extLst>
                  <a:ext uri="{FF2B5EF4-FFF2-40B4-BE49-F238E27FC236}">
                    <a16:creationId xmlns:a16="http://schemas.microsoft.com/office/drawing/2014/main" id="{7DE930D5-8308-9D8A-843B-D023406B4DB6}"/>
                  </a:ext>
                </a:extLst>
              </p:cNvPr>
              <p:cNvSpPr/>
              <p:nvPr/>
            </p:nvSpPr>
            <p:spPr>
              <a:xfrm>
                <a:off x="486542" y="2074353"/>
                <a:ext cx="1303418" cy="1340875"/>
              </a:xfrm>
              <a:prstGeom prst="flowChartConnector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200" dirty="0"/>
                  <a:t>S</a:t>
                </a:r>
                <a:endParaRPr lang="ru-RU" sz="7200" dirty="0"/>
              </a:p>
            </p:txBody>
          </p:sp>
        </p:grpSp>
        <p:grpSp>
          <p:nvGrpSpPr>
            <p:cNvPr id="29" name="Группа 28">
              <a:extLst>
                <a:ext uri="{FF2B5EF4-FFF2-40B4-BE49-F238E27FC236}">
                  <a16:creationId xmlns:a16="http://schemas.microsoft.com/office/drawing/2014/main" id="{3BEE7FCA-428A-48FF-18BC-3A2A3D7D2FCC}"/>
                </a:ext>
              </a:extLst>
            </p:cNvPr>
            <p:cNvGrpSpPr/>
            <p:nvPr/>
          </p:nvGrpSpPr>
          <p:grpSpPr>
            <a:xfrm>
              <a:off x="2334827" y="1296140"/>
              <a:ext cx="2334826" cy="5561860"/>
              <a:chOff x="1" y="1296140"/>
              <a:chExt cx="2334826" cy="5561860"/>
            </a:xfrm>
          </p:grpSpPr>
          <p:sp>
            <p:nvSpPr>
              <p:cNvPr id="30" name="Прямоугольник 29">
                <a:extLst>
                  <a:ext uri="{FF2B5EF4-FFF2-40B4-BE49-F238E27FC236}">
                    <a16:creationId xmlns:a16="http://schemas.microsoft.com/office/drawing/2014/main" id="{6C6DD936-A459-EA01-7D4A-87EE87254DB7}"/>
                  </a:ext>
                </a:extLst>
              </p:cNvPr>
              <p:cNvSpPr/>
              <p:nvPr/>
            </p:nvSpPr>
            <p:spPr>
              <a:xfrm>
                <a:off x="1" y="1296140"/>
                <a:ext cx="2334826" cy="5561860"/>
              </a:xfrm>
              <a:prstGeom prst="rect">
                <a:avLst/>
              </a:prstGeom>
              <a:ln w="571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2800" dirty="0"/>
                  <a:t>Измеримое</a:t>
                </a:r>
              </a:p>
            </p:txBody>
          </p:sp>
          <p:sp>
            <p:nvSpPr>
              <p:cNvPr id="31" name="Блок-схема: узел 30">
                <a:extLst>
                  <a:ext uri="{FF2B5EF4-FFF2-40B4-BE49-F238E27FC236}">
                    <a16:creationId xmlns:a16="http://schemas.microsoft.com/office/drawing/2014/main" id="{D69507F8-F7C8-D676-EAE9-62754F18098D}"/>
                  </a:ext>
                </a:extLst>
              </p:cNvPr>
              <p:cNvSpPr/>
              <p:nvPr/>
            </p:nvSpPr>
            <p:spPr>
              <a:xfrm>
                <a:off x="486542" y="2074353"/>
                <a:ext cx="1303418" cy="1340875"/>
              </a:xfrm>
              <a:prstGeom prst="flowChartConnector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200" dirty="0"/>
                  <a:t>M</a:t>
                </a:r>
                <a:endParaRPr lang="ru-RU" sz="7200" dirty="0"/>
              </a:p>
            </p:txBody>
          </p:sp>
        </p:grpSp>
        <p:grpSp>
          <p:nvGrpSpPr>
            <p:cNvPr id="32" name="Группа 31">
              <a:extLst>
                <a:ext uri="{FF2B5EF4-FFF2-40B4-BE49-F238E27FC236}">
                  <a16:creationId xmlns:a16="http://schemas.microsoft.com/office/drawing/2014/main" id="{7E0B2FBC-F015-793F-0345-74E231CFB175}"/>
                </a:ext>
              </a:extLst>
            </p:cNvPr>
            <p:cNvGrpSpPr/>
            <p:nvPr/>
          </p:nvGrpSpPr>
          <p:grpSpPr>
            <a:xfrm>
              <a:off x="4669653" y="1296140"/>
              <a:ext cx="2334826" cy="5561860"/>
              <a:chOff x="1" y="1296140"/>
              <a:chExt cx="2334826" cy="5561860"/>
            </a:xfrm>
          </p:grpSpPr>
          <p:sp>
            <p:nvSpPr>
              <p:cNvPr id="33" name="Прямоугольник 32">
                <a:extLst>
                  <a:ext uri="{FF2B5EF4-FFF2-40B4-BE49-F238E27FC236}">
                    <a16:creationId xmlns:a16="http://schemas.microsoft.com/office/drawing/2014/main" id="{7121BF36-96AC-83D5-4408-5B836BEAA70A}"/>
                  </a:ext>
                </a:extLst>
              </p:cNvPr>
              <p:cNvSpPr/>
              <p:nvPr/>
            </p:nvSpPr>
            <p:spPr>
              <a:xfrm>
                <a:off x="1" y="1296140"/>
                <a:ext cx="2334826" cy="5561860"/>
              </a:xfrm>
              <a:prstGeom prst="rect">
                <a:avLst/>
              </a:prstGeom>
              <a:ln w="571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2800" dirty="0"/>
                  <a:t>Достижимая</a:t>
                </a:r>
                <a:r>
                  <a:rPr lang="ru-RU" dirty="0"/>
                  <a:t> </a:t>
                </a:r>
              </a:p>
            </p:txBody>
          </p:sp>
          <p:sp>
            <p:nvSpPr>
              <p:cNvPr id="34" name="Блок-схема: узел 33">
                <a:extLst>
                  <a:ext uri="{FF2B5EF4-FFF2-40B4-BE49-F238E27FC236}">
                    <a16:creationId xmlns:a16="http://schemas.microsoft.com/office/drawing/2014/main" id="{E18F2B10-BC7F-97EE-BC90-602EEB9088C5}"/>
                  </a:ext>
                </a:extLst>
              </p:cNvPr>
              <p:cNvSpPr/>
              <p:nvPr/>
            </p:nvSpPr>
            <p:spPr>
              <a:xfrm>
                <a:off x="486542" y="2074353"/>
                <a:ext cx="1303418" cy="1340875"/>
              </a:xfrm>
              <a:prstGeom prst="flowChartConnector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200" dirty="0"/>
                  <a:t>A</a:t>
                </a:r>
                <a:endParaRPr lang="ru-RU" sz="7200" dirty="0"/>
              </a:p>
            </p:txBody>
          </p:sp>
        </p:grpSp>
        <p:grpSp>
          <p:nvGrpSpPr>
            <p:cNvPr id="38" name="Группа 37">
              <a:extLst>
                <a:ext uri="{FF2B5EF4-FFF2-40B4-BE49-F238E27FC236}">
                  <a16:creationId xmlns:a16="http://schemas.microsoft.com/office/drawing/2014/main" id="{CDDD0629-2FB6-7B26-750D-160E612D9F54}"/>
                </a:ext>
              </a:extLst>
            </p:cNvPr>
            <p:cNvGrpSpPr/>
            <p:nvPr/>
          </p:nvGrpSpPr>
          <p:grpSpPr>
            <a:xfrm>
              <a:off x="7004479" y="1296140"/>
              <a:ext cx="2334826" cy="5561860"/>
              <a:chOff x="1" y="1296140"/>
              <a:chExt cx="2334826" cy="5561860"/>
            </a:xfrm>
          </p:grpSpPr>
          <p:sp>
            <p:nvSpPr>
              <p:cNvPr id="39" name="Прямоугольник 38">
                <a:extLst>
                  <a:ext uri="{FF2B5EF4-FFF2-40B4-BE49-F238E27FC236}">
                    <a16:creationId xmlns:a16="http://schemas.microsoft.com/office/drawing/2014/main" id="{7F6E8084-13E6-5359-1AC0-EC2EA594DBAF}"/>
                  </a:ext>
                </a:extLst>
              </p:cNvPr>
              <p:cNvSpPr/>
              <p:nvPr/>
            </p:nvSpPr>
            <p:spPr>
              <a:xfrm>
                <a:off x="1" y="1296140"/>
                <a:ext cx="2334826" cy="5561860"/>
              </a:xfrm>
              <a:prstGeom prst="rect">
                <a:avLst/>
              </a:prstGeom>
              <a:ln w="571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2800" dirty="0"/>
                  <a:t>Актуальная</a:t>
                </a:r>
              </a:p>
            </p:txBody>
          </p:sp>
          <p:sp>
            <p:nvSpPr>
              <p:cNvPr id="40" name="Блок-схема: узел 39">
                <a:extLst>
                  <a:ext uri="{FF2B5EF4-FFF2-40B4-BE49-F238E27FC236}">
                    <a16:creationId xmlns:a16="http://schemas.microsoft.com/office/drawing/2014/main" id="{52FFB6A3-2B67-DA2B-D21B-7719CE35C3CE}"/>
                  </a:ext>
                </a:extLst>
              </p:cNvPr>
              <p:cNvSpPr/>
              <p:nvPr/>
            </p:nvSpPr>
            <p:spPr>
              <a:xfrm>
                <a:off x="486542" y="2074353"/>
                <a:ext cx="1303418" cy="1340875"/>
              </a:xfrm>
              <a:prstGeom prst="flowChartConnector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200" dirty="0"/>
                  <a:t>R</a:t>
                </a:r>
                <a:endParaRPr lang="ru-RU" sz="7200" dirty="0"/>
              </a:p>
            </p:txBody>
          </p:sp>
        </p:grpSp>
        <p:grpSp>
          <p:nvGrpSpPr>
            <p:cNvPr id="41" name="Группа 40">
              <a:extLst>
                <a:ext uri="{FF2B5EF4-FFF2-40B4-BE49-F238E27FC236}">
                  <a16:creationId xmlns:a16="http://schemas.microsoft.com/office/drawing/2014/main" id="{4DD7FA44-ACEE-C0C2-4686-193002897778}"/>
                </a:ext>
              </a:extLst>
            </p:cNvPr>
            <p:cNvGrpSpPr/>
            <p:nvPr/>
          </p:nvGrpSpPr>
          <p:grpSpPr>
            <a:xfrm>
              <a:off x="9339306" y="1296140"/>
              <a:ext cx="2334826" cy="5561860"/>
              <a:chOff x="2" y="1296140"/>
              <a:chExt cx="2334826" cy="5561860"/>
            </a:xfrm>
          </p:grpSpPr>
          <p:sp>
            <p:nvSpPr>
              <p:cNvPr id="42" name="Прямоугольник 41">
                <a:extLst>
                  <a:ext uri="{FF2B5EF4-FFF2-40B4-BE49-F238E27FC236}">
                    <a16:creationId xmlns:a16="http://schemas.microsoft.com/office/drawing/2014/main" id="{F6FFE6B8-A9CE-1E55-E1B1-06D4B137789F}"/>
                  </a:ext>
                </a:extLst>
              </p:cNvPr>
              <p:cNvSpPr/>
              <p:nvPr/>
            </p:nvSpPr>
            <p:spPr>
              <a:xfrm>
                <a:off x="2" y="1296140"/>
                <a:ext cx="2334826" cy="5561860"/>
              </a:xfrm>
              <a:prstGeom prst="rect">
                <a:avLst/>
              </a:prstGeom>
              <a:ln w="571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2800" dirty="0"/>
                  <a:t>Время</a:t>
                </a:r>
              </a:p>
            </p:txBody>
          </p:sp>
          <p:sp>
            <p:nvSpPr>
              <p:cNvPr id="43" name="Блок-схема: узел 42">
                <a:extLst>
                  <a:ext uri="{FF2B5EF4-FFF2-40B4-BE49-F238E27FC236}">
                    <a16:creationId xmlns:a16="http://schemas.microsoft.com/office/drawing/2014/main" id="{C9BF331C-EF12-CFCB-AC25-32EC1ED474F3}"/>
                  </a:ext>
                </a:extLst>
              </p:cNvPr>
              <p:cNvSpPr/>
              <p:nvPr/>
            </p:nvSpPr>
            <p:spPr>
              <a:xfrm>
                <a:off x="486542" y="2074353"/>
                <a:ext cx="1303418" cy="1340875"/>
              </a:xfrm>
              <a:prstGeom prst="flowChartConnector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7200" dirty="0"/>
                  <a:t>T</a:t>
                </a:r>
                <a:endParaRPr lang="ru-RU" sz="7200" dirty="0"/>
              </a:p>
            </p:txBody>
          </p:sp>
        </p:grp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3C1E9C0D-7EF1-8600-481D-8EF1EC04B4D7}"/>
              </a:ext>
            </a:extLst>
          </p:cNvPr>
          <p:cNvSpPr txBox="1"/>
          <p:nvPr/>
        </p:nvSpPr>
        <p:spPr>
          <a:xfrm>
            <a:off x="70864" y="4118530"/>
            <a:ext cx="217502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 Заключить 5 договор с юрлицами. Продавать 10 восстановленных аппаратов в месяц.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9E9930-21DB-CC39-82CE-47C1A0D06D4B}"/>
              </a:ext>
            </a:extLst>
          </p:cNvPr>
          <p:cNvSpPr txBox="1"/>
          <p:nvPr/>
        </p:nvSpPr>
        <p:spPr>
          <a:xfrm>
            <a:off x="2536448" y="4118498"/>
            <a:ext cx="23725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70000 </a:t>
            </a:r>
            <a:r>
              <a:rPr lang="ru-RU" sz="2000" dirty="0" err="1">
                <a:solidFill>
                  <a:schemeClr val="bg1"/>
                </a:solidFill>
              </a:rPr>
              <a:t>руб</a:t>
            </a:r>
            <a:r>
              <a:rPr lang="ru-RU" sz="2000" dirty="0">
                <a:solidFill>
                  <a:schemeClr val="bg1"/>
                </a:solidFill>
              </a:rPr>
              <a:t> в месяц. 10 продаж 25 выездов.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D9BAC3-5040-581D-F3DD-F464B431B89E}"/>
              </a:ext>
            </a:extLst>
          </p:cNvPr>
          <p:cNvSpPr txBox="1"/>
          <p:nvPr/>
        </p:nvSpPr>
        <p:spPr>
          <a:xfrm>
            <a:off x="9851649" y="4118498"/>
            <a:ext cx="21478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От июня 2026 года до  сентября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BE9089-216D-2DED-7CAC-460F4428CACD}"/>
              </a:ext>
            </a:extLst>
          </p:cNvPr>
          <p:cNvSpPr txBox="1"/>
          <p:nvPr/>
        </p:nvSpPr>
        <p:spPr>
          <a:xfrm>
            <a:off x="7465566" y="4118498"/>
            <a:ext cx="20998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Всё работает на рост прибыли и обход конкурентов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1FC2DF-33CC-B234-E3F6-F89773A4E8FA}"/>
              </a:ext>
            </a:extLst>
          </p:cNvPr>
          <p:cNvSpPr txBox="1"/>
          <p:nvPr/>
        </p:nvSpPr>
        <p:spPr>
          <a:xfrm>
            <a:off x="5046078" y="4118498"/>
            <a:ext cx="183963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Многим компаниям нужен быстрый ремонт служебных смартфонов</a:t>
            </a:r>
          </a:p>
        </p:txBody>
      </p:sp>
    </p:spTree>
    <p:extLst>
      <p:ext uri="{BB962C8B-B14F-4D97-AF65-F5344CB8AC3E}">
        <p14:creationId xmlns:p14="http://schemas.microsoft.com/office/powerpoint/2010/main" val="142814152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</TotalTime>
  <Words>164</Words>
  <Application>Microsoft Office PowerPoint</Application>
  <PresentationFormat>Широкоэкранный</PresentationFormat>
  <Paragraphs>35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Студент</dc:creator>
  <cp:lastModifiedBy>Студент</cp:lastModifiedBy>
  <cp:revision>15</cp:revision>
  <dcterms:created xsi:type="dcterms:W3CDTF">2026-03-06T05:38:17Z</dcterms:created>
  <dcterms:modified xsi:type="dcterms:W3CDTF">2026-03-12T09:08:29Z</dcterms:modified>
</cp:coreProperties>
</file>